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3" r:id="rId3"/>
    <p:sldId id="279" r:id="rId4"/>
    <p:sldId id="276" r:id="rId5"/>
    <p:sldId id="280" r:id="rId6"/>
    <p:sldId id="286" r:id="rId7"/>
    <p:sldId id="282" r:id="rId8"/>
    <p:sldId id="287" r:id="rId9"/>
    <p:sldId id="277" r:id="rId10"/>
    <p:sldId id="275" r:id="rId11"/>
    <p:sldId id="259" r:id="rId12"/>
    <p:sldId id="288" r:id="rId13"/>
    <p:sldId id="278" r:id="rId14"/>
  </p:sldIdLst>
  <p:sldSz cx="9144000" cy="6858000" type="screen4x3"/>
  <p:notesSz cx="6858000" cy="9144000"/>
  <p:embeddedFontLst>
    <p:embeddedFont>
      <p:font typeface="NanumSquare Neo OTF ExtraBold" panose="020B0600000101010101" charset="-127"/>
      <p:bold r:id="rId17"/>
    </p:embeddedFont>
    <p:embeddedFont>
      <p:font typeface="Pretendard SemiBold" panose="02000703000000020004" pitchFamily="50" charset="-127"/>
      <p:bold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9857"/>
    <a:srgbClr val="07D278"/>
    <a:srgbClr val="2AC433"/>
    <a:srgbClr val="06C1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46"/>
    <p:restoredTop sz="86878" autoAdjust="0"/>
  </p:normalViewPr>
  <p:slideViewPr>
    <p:cSldViewPr snapToGrid="0" snapToObjects="1">
      <p:cViewPr varScale="1">
        <p:scale>
          <a:sx n="110" d="100"/>
          <a:sy n="110" d="100"/>
        </p:scale>
        <p:origin x="18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4082420-2302-DA45-9A00-6B083723CF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1F6486-1DCE-6E4A-A0C6-D4B36D0CC8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BC59C-73D3-E047-A495-E93CFC516774}" type="datetimeFigureOut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4E86DD-D37D-5A4F-A280-CAE49DC0CD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D8FA8B-D3AD-7244-9976-B2CDAEA541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67F9F-1B31-7D4B-AABE-6F206F36D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47862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FE5E7-CA1B-5D41-BD15-61CE5251AFBC}" type="datetimeFigureOut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E6B53-3217-744C-BDD5-F3BEF147AE2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10951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effectLst/>
                <a:latin typeface="+mj-lt"/>
              </a:rPr>
              <a:t>큰 글씨 </a:t>
            </a:r>
            <a:r>
              <a:rPr lang="en-US" altLang="ko-KR" dirty="0">
                <a:effectLst/>
                <a:latin typeface="+mj-lt"/>
              </a:rPr>
              <a:t>40</a:t>
            </a:r>
          </a:p>
          <a:p>
            <a:r>
              <a:rPr lang="ko-KR" altLang="en-US" dirty="0">
                <a:effectLst/>
                <a:latin typeface="+mj-lt"/>
              </a:rPr>
              <a:t>중간 글씨</a:t>
            </a:r>
            <a:r>
              <a:rPr lang="en-US" altLang="ko-KR" dirty="0">
                <a:effectLst/>
                <a:latin typeface="+mj-lt"/>
              </a:rPr>
              <a:t>28</a:t>
            </a:r>
          </a:p>
          <a:p>
            <a:r>
              <a:rPr lang="ko-KR" altLang="en-US" dirty="0">
                <a:effectLst/>
                <a:latin typeface="+mj-lt"/>
              </a:rPr>
              <a:t>작은 글씨 </a:t>
            </a:r>
            <a:r>
              <a:rPr lang="en-US" altLang="ko-KR" dirty="0">
                <a:effectLst/>
                <a:latin typeface="+mj-lt"/>
              </a:rPr>
              <a:t>20</a:t>
            </a:r>
          </a:p>
          <a:p>
            <a:endParaRPr lang="en-US" altLang="ko-KR" dirty="0">
              <a:effectLst/>
              <a:latin typeface="+mj-lt"/>
            </a:endParaRPr>
          </a:p>
          <a:p>
            <a:r>
              <a:rPr lang="ko-KR" altLang="en-US" dirty="0" err="1">
                <a:effectLst/>
                <a:latin typeface="+mj-lt"/>
              </a:rPr>
              <a:t>나눔스퀘어</a:t>
            </a:r>
            <a:r>
              <a:rPr lang="ko-KR" altLang="en-US" dirty="0">
                <a:effectLst/>
                <a:latin typeface="+mj-lt"/>
              </a:rPr>
              <a:t> 네오 </a:t>
            </a:r>
            <a:r>
              <a:rPr lang="en-US" altLang="ko-KR" dirty="0">
                <a:effectLst/>
                <a:latin typeface="+mj-lt"/>
              </a:rPr>
              <a:t>OTF Extrabold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2920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7779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06501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3212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20569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265BF-2FF1-0D01-6F54-8470A629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7CC09-F8B1-22A9-1F3B-0346E10FB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599853-B52C-1E38-D12A-ECC6DB7F3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4A67CE-0972-DAAA-889E-F4BDF8925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2561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278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BAF7-2CAB-2D39-C15B-4AADD0F93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A80B1B-30C8-0442-2BF3-7C09C15EA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356B58-AEC9-AEF8-9927-8E97938CD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3E125E-CC1E-BF3C-296C-AE6FECC9D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82172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889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101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913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754DF-8D44-31AA-A7AC-4E3508ED1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C84B33-B295-98DB-0F2F-654C33121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2E7A34-1F79-87F4-9312-98AD94871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005E54-46CB-769C-D117-24ED03130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057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ffectLst/>
              <a:latin typeface="+mj-lt"/>
              <a:ea typeface="Apple SD Gothic Neo" panose="020003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E6B53-3217-744C-BDD5-F3BEF147AE23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27232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B2DAF-1F8A-FD40-8F60-3C54C970952D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0149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A44E-6049-4244-8622-3924BF3B712D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9229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0C0CC-8D85-954C-A3CB-FB83C7E14AC7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621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88B2-4BD3-4040-B567-A431D3CECF91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892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8402-9C10-424C-8C70-36A59052E15F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819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91A8-FC3A-6B44-AFA5-F08D44125E49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9743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34CF9-A28E-2E4C-A64A-7A9BF1F22C09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7570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B0B1-3765-3D45-B56F-773C6806505F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005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4AB1-D15F-994E-A4C0-66057502C43E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937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811E-4010-D74A-8F92-01B8EE611638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719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C9F7-02BA-3A4E-AD90-9AB1A5BF5BDB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5889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4C389-8475-F24E-BB95-0DFD888E52CB}" type="datetime1">
              <a:rPr kumimoji="1" lang="ko-KR" altLang="en-US" smtClean="0"/>
              <a:t>2025-12-21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1B10C-A913-3B43-9D6A-463A054F31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1318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3.sv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al-beaver-76400780.figma.site/" TargetMode="Externa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7">
            <a:extLst>
              <a:ext uri="{FF2B5EF4-FFF2-40B4-BE49-F238E27FC236}">
                <a16:creationId xmlns:a16="http://schemas.microsoft.com/office/drawing/2014/main" id="{5A52FBCD-EA00-DD43-ACB3-076ADA256B9B}"/>
              </a:ext>
            </a:extLst>
          </p:cNvPr>
          <p:cNvSpPr txBox="1">
            <a:spLocks/>
          </p:cNvSpPr>
          <p:nvPr/>
        </p:nvSpPr>
        <p:spPr>
          <a:xfrm>
            <a:off x="1686393" y="2758335"/>
            <a:ext cx="5771214" cy="13413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4000" b="1" dirty="0">
                <a:latin typeface="NanumSquare Neo OTF ExtraBold" pitchFamily="2" charset="-127"/>
                <a:ea typeface="NanumSquare Neo OTF ExtraBold" pitchFamily="2" charset="-127"/>
              </a:rPr>
              <a:t>나만의 무기 만들기</a:t>
            </a:r>
            <a:endParaRPr lang="en-US" altLang="ko-KR" sz="4000" b="1" dirty="0">
              <a:latin typeface="NanumSquare Neo OTF ExtraBold" pitchFamily="2" charset="-127"/>
              <a:ea typeface="NanumSquare Neo OTF ExtraBold" pitchFamily="2" charset="-127"/>
            </a:endParaRPr>
          </a:p>
          <a:p>
            <a:pPr marL="0" indent="0" algn="ctr">
              <a:buNone/>
            </a:pPr>
            <a:r>
              <a:rPr lang="en-US" altLang="ko-KR" b="1" dirty="0">
                <a:latin typeface="NanumSquare Neo OTF ExtraBold" pitchFamily="2" charset="-127"/>
                <a:ea typeface="NanumSquare Neo OTF ExtraBold" pitchFamily="2" charset="-127"/>
              </a:rPr>
              <a:t>AI assistant </a:t>
            </a:r>
            <a:r>
              <a:rPr lang="ko-KR" altLang="en-US" b="1" dirty="0">
                <a:latin typeface="NanumSquare Neo OTF ExtraBold" pitchFamily="2" charset="-127"/>
                <a:ea typeface="NanumSquare Neo OTF ExtraBold" pitchFamily="2" charset="-127"/>
              </a:rPr>
              <a:t>화상회의 플랫폼 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6A4F8206-A3BA-0E4D-88AA-5763DC4842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6925" y="552189"/>
            <a:ext cx="2390150" cy="736963"/>
          </a:xfrm>
          <a:prstGeom prst="rect">
            <a:avLst/>
          </a:prstGeom>
        </p:spPr>
      </p:pic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B842EDA3-3C5F-C54A-AAA1-58FB690F8DC6}"/>
              </a:ext>
            </a:extLst>
          </p:cNvPr>
          <p:cNvSpPr txBox="1">
            <a:spLocks/>
          </p:cNvSpPr>
          <p:nvPr/>
        </p:nvSpPr>
        <p:spPr>
          <a:xfrm>
            <a:off x="5823421" y="6174889"/>
            <a:ext cx="3980329" cy="3470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b="1" dirty="0">
                <a:latin typeface="NanumSquare Neo OTF ExtraBold" pitchFamily="2" charset="-127"/>
                <a:ea typeface="NanumSquare Neo OTF ExtraBold" pitchFamily="2" charset="-127"/>
              </a:rPr>
              <a:t>KRAFTON</a:t>
            </a:r>
            <a:r>
              <a:rPr lang="ko-KR" altLang="en-US" sz="2000" b="1" dirty="0">
                <a:latin typeface="NanumSquare Neo OTF ExtraBold" pitchFamily="2" charset="-127"/>
                <a:ea typeface="NanumSquare Neo OTF ExtraBold" pitchFamily="2" charset="-127"/>
              </a:rPr>
              <a:t> 정글 </a:t>
            </a:r>
            <a:r>
              <a:rPr lang="en-US" altLang="ko-KR" sz="2000" b="1" dirty="0">
                <a:latin typeface="NanumSquare Neo OTF ExtraBold" pitchFamily="2" charset="-127"/>
                <a:ea typeface="NanumSquare Neo OTF ExtraBold" pitchFamily="2" charset="-127"/>
              </a:rPr>
              <a:t>11</a:t>
            </a:r>
            <a:r>
              <a:rPr lang="ko-KR" altLang="en-US" sz="2000" b="1" dirty="0">
                <a:latin typeface="NanumSquare Neo OTF ExtraBold" pitchFamily="2" charset="-127"/>
                <a:ea typeface="NanumSquare Neo OTF ExtraBold" pitchFamily="2" charset="-127"/>
              </a:rPr>
              <a:t>기 </a:t>
            </a:r>
            <a:br>
              <a:rPr lang="en-US" altLang="ko-KR" sz="2000" b="1" dirty="0">
                <a:latin typeface="NanumSquare Neo OTF ExtraBold" pitchFamily="2" charset="-127"/>
                <a:ea typeface="NanumSquare Neo OTF ExtraBold" pitchFamily="2" charset="-127"/>
              </a:rPr>
            </a:br>
            <a:r>
              <a:rPr lang="en-US" altLang="ko-KR" sz="2000" b="1" dirty="0">
                <a:latin typeface="NanumSquare Neo OTF ExtraBold" pitchFamily="2" charset="-127"/>
                <a:ea typeface="NanumSquare Neo OTF ExtraBold" pitchFamily="2" charset="-127"/>
              </a:rPr>
              <a:t>306</a:t>
            </a:r>
            <a:r>
              <a:rPr lang="ko-KR" altLang="en-US" sz="2000" b="1" dirty="0">
                <a:latin typeface="NanumSquare Neo OTF ExtraBold" pitchFamily="2" charset="-127"/>
                <a:ea typeface="NanumSquare Neo OTF ExtraBold" pitchFamily="2" charset="-127"/>
              </a:rPr>
              <a:t>호 </a:t>
            </a:r>
            <a:r>
              <a:rPr lang="en-US" altLang="ko-KR" sz="2000" b="1" dirty="0">
                <a:solidFill>
                  <a:srgbClr val="069857"/>
                </a:solidFill>
                <a:latin typeface="NanumSquare Neo OTF ExtraBold" pitchFamily="2" charset="-127"/>
                <a:ea typeface="NanumSquare Neo OTF ExtraBold" pitchFamily="2" charset="-127"/>
              </a:rPr>
              <a:t>3</a:t>
            </a:r>
            <a:r>
              <a:rPr lang="ko-KR" altLang="en-US" sz="2000" b="1" dirty="0">
                <a:solidFill>
                  <a:srgbClr val="069857"/>
                </a:solidFill>
                <a:latin typeface="NanumSquare Neo OTF ExtraBold" pitchFamily="2" charset="-127"/>
                <a:ea typeface="NanumSquare Neo OTF ExtraBold" pitchFamily="2" charset="-127"/>
              </a:rPr>
              <a:t>팀</a:t>
            </a:r>
          </a:p>
        </p:txBody>
      </p:sp>
    </p:spTree>
    <p:extLst>
      <p:ext uri="{BB962C8B-B14F-4D97-AF65-F5344CB8AC3E}">
        <p14:creationId xmlns:p14="http://schemas.microsoft.com/office/powerpoint/2010/main" val="439390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3043A827-5B17-EE42-8064-1B1A7D6B3651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183166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기획 배경</a:t>
            </a:r>
            <a:endParaRPr lang="en-US" altLang="ko-KR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D1C641-511E-1643-B62D-C85F01973275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A098F67-66E0-9146-9262-244603DAF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  <p:pic>
        <p:nvPicPr>
          <p:cNvPr id="1026" name="Picture 2" descr="비디오가 켜져 있는 참가자들의 Teams 모임.">
            <a:extLst>
              <a:ext uri="{FF2B5EF4-FFF2-40B4-BE49-F238E27FC236}">
                <a16:creationId xmlns:a16="http://schemas.microsoft.com/office/drawing/2014/main" id="{7C3E5B8A-7C3A-F94F-9A98-FBED203DD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2" y="1237130"/>
            <a:ext cx="4590257" cy="250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멀티뷰 화상회의 화면">
            <a:extLst>
              <a:ext uri="{FF2B5EF4-FFF2-40B4-BE49-F238E27FC236}">
                <a16:creationId xmlns:a16="http://schemas.microsoft.com/office/drawing/2014/main" id="{76D0CB1C-D574-E84D-A163-A91E0ACF7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939" y="1461578"/>
            <a:ext cx="4307667" cy="2279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424516-31E9-4243-98D9-02D301429D39}"/>
              </a:ext>
            </a:extLst>
          </p:cNvPr>
          <p:cNvSpPr txBox="1"/>
          <p:nvPr/>
        </p:nvSpPr>
        <p:spPr>
          <a:xfrm>
            <a:off x="958384" y="5042479"/>
            <a:ext cx="72982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4000" b="1" dirty="0">
                <a:latin typeface="NanumSquare Neo OTF ExtraBold" pitchFamily="2" charset="-127"/>
                <a:ea typeface="NanumSquare Neo OTF ExtraBold" pitchFamily="2" charset="-127"/>
              </a:rPr>
              <a:t>화상회의에서 </a:t>
            </a:r>
            <a:r>
              <a:rPr kumimoji="1" lang="en-US" altLang="ko-KR" sz="4000" b="1" dirty="0">
                <a:latin typeface="NanumSquare Neo OTF ExtraBold" pitchFamily="2" charset="-127"/>
                <a:ea typeface="NanumSquare Neo OTF ExtraBold" pitchFamily="2" charset="-127"/>
              </a:rPr>
              <a:t>AI </a:t>
            </a:r>
            <a:r>
              <a:rPr kumimoji="1" lang="ko-KR" altLang="en-US" sz="4000" b="1" dirty="0">
                <a:latin typeface="NanumSquare Neo OTF ExtraBold" pitchFamily="2" charset="-127"/>
                <a:ea typeface="NanumSquare Neo OTF ExtraBold" pitchFamily="2" charset="-127"/>
              </a:rPr>
              <a:t>비서가 있다면</a:t>
            </a:r>
            <a:r>
              <a:rPr kumimoji="1" lang="en-US" altLang="ko-KR" sz="4000" b="1" dirty="0">
                <a:latin typeface="NanumSquare Neo OTF ExtraBold" pitchFamily="2" charset="-127"/>
                <a:ea typeface="NanumSquare Neo OTF ExtraBold" pitchFamily="2" charset="-127"/>
              </a:rPr>
              <a:t>?</a:t>
            </a:r>
            <a:r>
              <a:rPr kumimoji="1" lang="ko-KR" altLang="en-US" sz="4000" b="1" dirty="0">
                <a:latin typeface="NanumSquare Neo OTF ExtraBold" pitchFamily="2" charset="-127"/>
                <a:ea typeface="NanumSquare Neo OTF ExtraBold" pitchFamily="2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52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3043A827-5B17-EE42-8064-1B1A7D6B3651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183166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기획 배경</a:t>
            </a:r>
            <a:endParaRPr lang="en-US" altLang="ko-KR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D1C641-511E-1643-B62D-C85F01973275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A098F67-66E0-9146-9262-244603DAF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  <p:pic>
        <p:nvPicPr>
          <p:cNvPr id="1026" name="Picture 2" descr="비디오가 켜져 있는 참가자들의 Teams 모임.">
            <a:extLst>
              <a:ext uri="{FF2B5EF4-FFF2-40B4-BE49-F238E27FC236}">
                <a16:creationId xmlns:a16="http://schemas.microsoft.com/office/drawing/2014/main" id="{7C3E5B8A-7C3A-F94F-9A98-FBED203DD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2" y="1237130"/>
            <a:ext cx="4590257" cy="250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멀티뷰 화상회의 화면">
            <a:extLst>
              <a:ext uri="{FF2B5EF4-FFF2-40B4-BE49-F238E27FC236}">
                <a16:creationId xmlns:a16="http://schemas.microsoft.com/office/drawing/2014/main" id="{76D0CB1C-D574-E84D-A163-A91E0ACF7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939" y="1461578"/>
            <a:ext cx="4307667" cy="2279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52608A3-20F9-524E-9247-D2803E311964}"/>
              </a:ext>
            </a:extLst>
          </p:cNvPr>
          <p:cNvSpPr/>
          <p:nvPr/>
        </p:nvSpPr>
        <p:spPr>
          <a:xfrm>
            <a:off x="0" y="663642"/>
            <a:ext cx="9144000" cy="6194358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A72EED-75FA-4D4F-8D5C-14EA54054597}"/>
              </a:ext>
            </a:extLst>
          </p:cNvPr>
          <p:cNvSpPr txBox="1"/>
          <p:nvPr/>
        </p:nvSpPr>
        <p:spPr>
          <a:xfrm>
            <a:off x="2418164" y="2721114"/>
            <a:ext cx="4307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4000" b="1" dirty="0">
                <a:solidFill>
                  <a:srgbClr val="069857"/>
                </a:solidFill>
                <a:latin typeface="NanumSquare Neo OTF ExtraBold" pitchFamily="2" charset="-127"/>
                <a:ea typeface="NanumSquare Neo OTF ExtraBold" pitchFamily="2" charset="-127"/>
              </a:rPr>
              <a:t>상호 작용</a:t>
            </a:r>
            <a:r>
              <a:rPr kumimoji="1" lang="ko-KR" altLang="en-US" sz="4000" b="1" dirty="0">
                <a:latin typeface="NanumSquare Neo OTF ExtraBold" pitchFamily="2" charset="-127"/>
                <a:ea typeface="NanumSquare Neo OTF ExtraBold" pitchFamily="2" charset="-127"/>
              </a:rPr>
              <a:t>의 극대화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635D59-A0AE-D64C-94E1-DD51239C4B4D}"/>
              </a:ext>
            </a:extLst>
          </p:cNvPr>
          <p:cNvSpPr txBox="1"/>
          <p:nvPr/>
        </p:nvSpPr>
        <p:spPr>
          <a:xfrm>
            <a:off x="2092086" y="4334593"/>
            <a:ext cx="5030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4000" b="1" dirty="0">
                <a:latin typeface="NanumSquare Neo OTF ExtraBold" pitchFamily="2" charset="-127"/>
                <a:ea typeface="NanumSquare Neo OTF ExtraBold" pitchFamily="2" charset="-127"/>
              </a:rPr>
              <a:t>AI assistant</a:t>
            </a:r>
            <a:r>
              <a:rPr kumimoji="1" lang="ko-KR" altLang="en-US" sz="4000" b="1" dirty="0" err="1">
                <a:latin typeface="NanumSquare Neo OTF ExtraBold" pitchFamily="2" charset="-127"/>
                <a:ea typeface="NanumSquare Neo OTF ExtraBold" pitchFamily="2" charset="-127"/>
              </a:rPr>
              <a:t>를</a:t>
            </a:r>
            <a:r>
              <a:rPr kumimoji="1" lang="ko-KR" altLang="en-US" sz="4000" b="1" dirty="0">
                <a:latin typeface="NanumSquare Neo OTF ExtraBold" pitchFamily="2" charset="-127"/>
                <a:ea typeface="NanumSquare Neo OTF ExtraBold" pitchFamily="2" charset="-127"/>
              </a:rPr>
              <a:t> 탑재</a:t>
            </a:r>
          </a:p>
        </p:txBody>
      </p:sp>
    </p:spTree>
    <p:extLst>
      <p:ext uri="{BB962C8B-B14F-4D97-AF65-F5344CB8AC3E}">
        <p14:creationId xmlns:p14="http://schemas.microsoft.com/office/powerpoint/2010/main" val="203305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3043A827-5B17-EE42-8064-1B1A7D6B3651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183166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핵심 기능</a:t>
            </a:r>
            <a:endParaRPr lang="en-US" altLang="ko-KR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D1C641-511E-1643-B62D-C85F01973275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A098F67-66E0-9146-9262-244603DAF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1C7575-FBEE-2942-8978-87DF3C509110}"/>
              </a:ext>
            </a:extLst>
          </p:cNvPr>
          <p:cNvSpPr txBox="1"/>
          <p:nvPr/>
        </p:nvSpPr>
        <p:spPr>
          <a:xfrm>
            <a:off x="284501" y="1718108"/>
            <a:ext cx="3829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800" b="1" dirty="0">
                <a:effectLst/>
                <a:latin typeface="NanumSquare Neo OTF ExtraBold" pitchFamily="2" charset="-127"/>
                <a:ea typeface="NanumSquare Neo OTF ExtraBold" pitchFamily="2" charset="-127"/>
              </a:rPr>
              <a:t>Visual On-Demand</a:t>
            </a:r>
            <a:endParaRPr kumimoji="1" lang="ko-KR" altLang="en-US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378AF-D730-2045-831B-2B3C53402E11}"/>
              </a:ext>
            </a:extLst>
          </p:cNvPr>
          <p:cNvSpPr txBox="1"/>
          <p:nvPr/>
        </p:nvSpPr>
        <p:spPr>
          <a:xfrm>
            <a:off x="2829584" y="3167390"/>
            <a:ext cx="3555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b="1" dirty="0">
                <a:latin typeface="NanumSquare Neo OTF ExtraBold" pitchFamily="2" charset="-127"/>
                <a:ea typeface="NanumSquare Neo OTF ExtraBold" pitchFamily="2" charset="-127"/>
              </a:rPr>
              <a:t>Social Protocol AI</a:t>
            </a:r>
            <a:endParaRPr kumimoji="1" lang="ko-KR" altLang="en-US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D167AD-B4DA-DA4B-81C0-68F10E5727A2}"/>
              </a:ext>
            </a:extLst>
          </p:cNvPr>
          <p:cNvSpPr txBox="1"/>
          <p:nvPr/>
        </p:nvSpPr>
        <p:spPr>
          <a:xfrm>
            <a:off x="5621889" y="4611870"/>
            <a:ext cx="334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sz="2800" b="1" dirty="0">
                <a:latin typeface="NanumSquare Neo OTF ExtraBold" pitchFamily="2" charset="-127"/>
                <a:ea typeface="NanumSquare Neo OTF ExtraBold" pitchFamily="2" charset="-127"/>
              </a:rPr>
              <a:t>Hybrid Research</a:t>
            </a:r>
            <a:endParaRPr kumimoji="1" lang="ko-KR" altLang="en-US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296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3043A827-5B17-EE42-8064-1B1A7D6B3651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183166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핵심 기능</a:t>
            </a:r>
            <a:endParaRPr lang="en-US" altLang="ko-KR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D1C641-511E-1643-B62D-C85F01973275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A098F67-66E0-9146-9262-244603DAF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1C7575-FBEE-2942-8978-87DF3C509110}"/>
              </a:ext>
            </a:extLst>
          </p:cNvPr>
          <p:cNvSpPr txBox="1"/>
          <p:nvPr/>
        </p:nvSpPr>
        <p:spPr>
          <a:xfrm>
            <a:off x="265890" y="703010"/>
            <a:ext cx="4306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latin typeface="NanumSquare Neo OTF ExtraBold" pitchFamily="2" charset="-127"/>
                <a:ea typeface="NanumSquare Neo OTF ExtraBold" pitchFamily="2" charset="-127"/>
              </a:rPr>
              <a:t>실시간 </a:t>
            </a:r>
            <a:r>
              <a:rPr kumimoji="1" lang="en-US" altLang="ko-KR" sz="2000" b="1" dirty="0">
                <a:latin typeface="NanumSquare Neo OTF ExtraBold" pitchFamily="2" charset="-127"/>
                <a:ea typeface="NanumSquare Neo OTF ExtraBold" pitchFamily="2" charset="-127"/>
              </a:rPr>
              <a:t>RAG </a:t>
            </a:r>
            <a:r>
              <a:rPr kumimoji="1" lang="ko-KR" altLang="en-US" sz="2000" b="1" dirty="0">
                <a:latin typeface="NanumSquare Neo OTF ExtraBold" pitchFamily="2" charset="-127"/>
                <a:ea typeface="NanumSquare Neo OTF ExtraBold" pitchFamily="2" charset="-127"/>
              </a:rPr>
              <a:t>기반 회의 어시스턴트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7EBDDB-EFDD-F77A-3794-E5591EDE79B9}"/>
              </a:ext>
            </a:extLst>
          </p:cNvPr>
          <p:cNvSpPr txBox="1"/>
          <p:nvPr/>
        </p:nvSpPr>
        <p:spPr>
          <a:xfrm>
            <a:off x="3530993" y="6476488"/>
            <a:ext cx="56130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WebRTC SFU · Real-time STT · Hot Buffer · Vector Retrieval · Streamed LLM</a:t>
            </a:r>
            <a:endParaRPr lang="ko-KR" altLang="en-US" sz="1400" dirty="0"/>
          </a:p>
        </p:txBody>
      </p:sp>
      <p:pic>
        <p:nvPicPr>
          <p:cNvPr id="1026" name="Picture 2" descr="WebRTC] WebRTC의 특징">
            <a:extLst>
              <a:ext uri="{FF2B5EF4-FFF2-40B4-BE49-F238E27FC236}">
                <a16:creationId xmlns:a16="http://schemas.microsoft.com/office/drawing/2014/main" id="{9AA170CD-E82C-E9A8-557E-815C5333F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87" y="2098384"/>
            <a:ext cx="846636" cy="101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78FE3D-7AFB-28FE-8CCB-7E1DF72B83FC}"/>
              </a:ext>
            </a:extLst>
          </p:cNvPr>
          <p:cNvSpPr txBox="1"/>
          <p:nvPr/>
        </p:nvSpPr>
        <p:spPr>
          <a:xfrm>
            <a:off x="2927855" y="2406311"/>
            <a:ext cx="738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b="1" dirty="0">
                <a:latin typeface="NanumSquare Neo OTF ExtraBold" pitchFamily="2" charset="-127"/>
                <a:ea typeface="NanumSquare Neo OTF ExtraBold" pitchFamily="2" charset="-127"/>
              </a:rPr>
              <a:t>STT</a:t>
            </a:r>
            <a:endParaRPr kumimoji="1" lang="ko-KR" altLang="en-US" sz="20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pic>
        <p:nvPicPr>
          <p:cNvPr id="15" name="그림 14" descr="도표, 스케치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025EC-6D29-A129-8968-33815043A0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09" y="1944791"/>
            <a:ext cx="1653939" cy="1323151"/>
          </a:xfrm>
          <a:prstGeom prst="rect">
            <a:avLst/>
          </a:prstGeom>
        </p:spPr>
      </p:pic>
      <p:pic>
        <p:nvPicPr>
          <p:cNvPr id="17" name="그림 16" descr="상징, 텍스트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0F718E-92D8-07C9-BD8A-868D37EC88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6896" y="1997045"/>
            <a:ext cx="1023867" cy="1323151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57F51ED-A081-72F7-D976-7DEBB2AEF560}"/>
              </a:ext>
            </a:extLst>
          </p:cNvPr>
          <p:cNvCxnSpPr>
            <a:cxnSpLocks/>
          </p:cNvCxnSpPr>
          <p:nvPr/>
        </p:nvCxnSpPr>
        <p:spPr>
          <a:xfrm>
            <a:off x="2140055" y="2606365"/>
            <a:ext cx="65957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E7ACF08-3C4F-D356-C682-D971BB8D1DB3}"/>
              </a:ext>
            </a:extLst>
          </p:cNvPr>
          <p:cNvCxnSpPr/>
          <p:nvPr/>
        </p:nvCxnSpPr>
        <p:spPr>
          <a:xfrm>
            <a:off x="3816965" y="2595803"/>
            <a:ext cx="65957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897C96E-6261-4BEA-5F82-4177F7847870}"/>
              </a:ext>
            </a:extLst>
          </p:cNvPr>
          <p:cNvCxnSpPr>
            <a:cxnSpLocks/>
          </p:cNvCxnSpPr>
          <p:nvPr/>
        </p:nvCxnSpPr>
        <p:spPr>
          <a:xfrm>
            <a:off x="5871429" y="2595802"/>
            <a:ext cx="65957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8F6EC2D-5687-8685-2F77-9DCFC6091423}"/>
              </a:ext>
            </a:extLst>
          </p:cNvPr>
          <p:cNvSpPr txBox="1"/>
          <p:nvPr/>
        </p:nvSpPr>
        <p:spPr>
          <a:xfrm>
            <a:off x="614287" y="4465242"/>
            <a:ext cx="7724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회의 중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Ai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사용하기 위해선 회의 내용을 입력해 줘야 함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	 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전체 내용을 입력하지 않으면 정확히 원하는 답변을 받을 수 없음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 </a:t>
            </a:r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해결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음성을 실시간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STT + RAG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로 처리해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가 정확한 답변을 함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707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3B5B-29FC-4B83-467E-F831CB48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E394B7DA-2E1F-B524-DE54-74B63636CD73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183166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핵심 기능</a:t>
            </a:r>
            <a:endParaRPr lang="en-US" altLang="ko-KR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56AA6C-E3ED-CE08-099F-A3349DA68B61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29A8260F-8DAC-A2D3-3C7E-451226595B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C03374-927D-0616-8120-0D7F7DDFB307}"/>
              </a:ext>
            </a:extLst>
          </p:cNvPr>
          <p:cNvSpPr txBox="1"/>
          <p:nvPr/>
        </p:nvSpPr>
        <p:spPr>
          <a:xfrm>
            <a:off x="265890" y="703010"/>
            <a:ext cx="3829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latin typeface="NanumSquare Neo OTF ExtraBold" pitchFamily="2" charset="-127"/>
                <a:ea typeface="NanumSquare Neo OTF ExtraBold" pitchFamily="2" charset="-127"/>
              </a:rPr>
              <a:t>회의 상태</a:t>
            </a:r>
            <a:r>
              <a:rPr kumimoji="1" lang="en-US" altLang="ko-KR" sz="2000" b="1" dirty="0">
                <a:latin typeface="NanumSquare Neo OTF ExtraBold" pitchFamily="2" charset="-127"/>
                <a:ea typeface="NanumSquare Neo OTF ExtraBold" pitchFamily="2" charset="-127"/>
              </a:rPr>
              <a:t>/</a:t>
            </a:r>
            <a:r>
              <a:rPr kumimoji="1" lang="ko-KR" altLang="en-US" sz="2000" b="1" dirty="0">
                <a:latin typeface="NanumSquare Neo OTF ExtraBold" pitchFamily="2" charset="-127"/>
                <a:ea typeface="NanumSquare Neo OTF ExtraBold" pitchFamily="2" charset="-127"/>
              </a:rPr>
              <a:t>메모리 시각화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A9F96-31DD-4E3A-E85F-682B4CE9AE10}"/>
              </a:ext>
            </a:extLst>
          </p:cNvPr>
          <p:cNvSpPr txBox="1"/>
          <p:nvPr/>
        </p:nvSpPr>
        <p:spPr>
          <a:xfrm>
            <a:off x="3744432" y="6476488"/>
            <a:ext cx="53995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Real-Time Topic Modeling · Timeline Visualization · Live Context Engine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8C5AF-B6D6-1163-3F5A-39E1B478731A}"/>
              </a:ext>
            </a:extLst>
          </p:cNvPr>
          <p:cNvSpPr txBox="1"/>
          <p:nvPr/>
        </p:nvSpPr>
        <p:spPr>
          <a:xfrm>
            <a:off x="614287" y="4465242"/>
            <a:ext cx="77245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회의가 길어지면 주제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이슈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결정이 뒤섞이며 흐름을 놓치기 쉬움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해결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대화 구조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주제 변화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핵심 순간을 실시간 분석해 시각적으로 정리해 보여줌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7" name="그림 6" descr="도표, 스케치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F29D15-4053-7E04-EAB5-79ED657FE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754" y="1944791"/>
            <a:ext cx="1653939" cy="1323151"/>
          </a:xfrm>
          <a:prstGeom prst="rect">
            <a:avLst/>
          </a:prstGeom>
        </p:spPr>
      </p:pic>
      <p:pic>
        <p:nvPicPr>
          <p:cNvPr id="8" name="그림 7" descr="상징, 텍스트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23A7B6-4427-A581-DC81-A5E71CF4C3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5741" y="1997045"/>
            <a:ext cx="1023867" cy="1323151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5D0294C-9875-EBF9-C978-1D0AB1F32647}"/>
              </a:ext>
            </a:extLst>
          </p:cNvPr>
          <p:cNvCxnSpPr>
            <a:cxnSpLocks/>
          </p:cNvCxnSpPr>
          <p:nvPr/>
        </p:nvCxnSpPr>
        <p:spPr>
          <a:xfrm>
            <a:off x="2170274" y="2595802"/>
            <a:ext cx="65957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비즈니스 보고서 아이콘감사 및 분석, 문서, 스톡 일러스트 488719861 | Shutterstock">
            <a:extLst>
              <a:ext uri="{FF2B5EF4-FFF2-40B4-BE49-F238E27FC236}">
                <a16:creationId xmlns:a16="http://schemas.microsoft.com/office/drawing/2014/main" id="{49C69D41-2217-AF05-EA33-A54BE8ED30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3" t="12276" r="15721" b="19441"/>
          <a:stretch>
            <a:fillRect/>
          </a:stretch>
        </p:blipFill>
        <p:spPr bwMode="auto">
          <a:xfrm>
            <a:off x="5105417" y="1860942"/>
            <a:ext cx="1338799" cy="147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 descr="상징, 폰트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4055E8-7C75-1EE0-CCE0-3D7452A319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5126" y="1854739"/>
            <a:ext cx="1333573" cy="1397726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F87CE8A-60E0-148B-E8BE-88052AD74750}"/>
              </a:ext>
            </a:extLst>
          </p:cNvPr>
          <p:cNvCxnSpPr>
            <a:cxnSpLocks/>
          </p:cNvCxnSpPr>
          <p:nvPr/>
        </p:nvCxnSpPr>
        <p:spPr>
          <a:xfrm>
            <a:off x="4277744" y="2576535"/>
            <a:ext cx="65957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321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3043A827-5B17-EE42-8064-1B1A7D6B3651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183166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핵심 기능</a:t>
            </a:r>
            <a:endParaRPr lang="en-US" altLang="ko-KR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D1C641-511E-1643-B62D-C85F01973275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A098F67-66E0-9146-9262-244603DAF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A3F6B5-227C-361B-72B0-2D3E1CD1638F}"/>
              </a:ext>
            </a:extLst>
          </p:cNvPr>
          <p:cNvSpPr txBox="1"/>
          <p:nvPr/>
        </p:nvSpPr>
        <p:spPr>
          <a:xfrm>
            <a:off x="265890" y="703010"/>
            <a:ext cx="3829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latin typeface="NanumSquare Neo OTF ExtraBold" pitchFamily="2" charset="-127"/>
                <a:ea typeface="NanumSquare Neo OTF ExtraBold" pitchFamily="2" charset="-127"/>
              </a:rPr>
              <a:t>화면 분석으로 이미지 생성 기능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F4217-0AEE-776E-FEC3-4C84419E9ADE}"/>
              </a:ext>
            </a:extLst>
          </p:cNvPr>
          <p:cNvSpPr txBox="1"/>
          <p:nvPr/>
        </p:nvSpPr>
        <p:spPr>
          <a:xfrm>
            <a:off x="3387634" y="6464480"/>
            <a:ext cx="575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Screen Capture · Vision Encoder · Image Generation · On-Demand Rendering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0D1A73-513E-3F57-E162-5233934267AB}"/>
              </a:ext>
            </a:extLst>
          </p:cNvPr>
          <p:cNvSpPr txBox="1"/>
          <p:nvPr/>
        </p:nvSpPr>
        <p:spPr>
          <a:xfrm>
            <a:off x="614287" y="4465242"/>
            <a:ext cx="7724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회의 중 나온 그래프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·UI·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아이디어를 다시 </a:t>
            </a:r>
            <a:r>
              <a:rPr lang="ko-KR" altLang="en-US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시각화하거나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재생성하기 어렵다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	 </a:t>
            </a:r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endParaRPr lang="en-US" altLang="ko-KR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해결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화면을 실시간 분석해 원하는 스타일로 이미지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일러스트를 즉시 생성함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098" name="Picture 2" descr="화상 회의 - 무료 과학 기술개 아이콘">
            <a:extLst>
              <a:ext uri="{FF2B5EF4-FFF2-40B4-BE49-F238E27FC236}">
                <a16:creationId xmlns:a16="http://schemas.microsoft.com/office/drawing/2014/main" id="{D73281FA-8202-8962-5711-E53483006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87" y="1796228"/>
            <a:ext cx="1702193" cy="170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 descr="상징, 텍스트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E2E60F-BCB6-A181-75C8-4E1F8FDE2F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9425" y="1824623"/>
            <a:ext cx="1315418" cy="1699925"/>
          </a:xfrm>
          <a:prstGeom prst="rect">
            <a:avLst/>
          </a:prstGeom>
        </p:spPr>
      </p:pic>
      <p:pic>
        <p:nvPicPr>
          <p:cNvPr id="16" name="그림 15" descr="상징, 라인, 폰트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C88CAF-3F67-3E7F-2BE3-4FFF9CDA8D3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08" t="4361" b="1250"/>
          <a:stretch>
            <a:fillRect/>
          </a:stretch>
        </p:blipFill>
        <p:spPr>
          <a:xfrm>
            <a:off x="6408644" y="1830938"/>
            <a:ext cx="1726537" cy="1632772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AFED331-3E17-3C12-9070-07FCF971119E}"/>
              </a:ext>
            </a:extLst>
          </p:cNvPr>
          <p:cNvCxnSpPr>
            <a:cxnSpLocks/>
          </p:cNvCxnSpPr>
          <p:nvPr/>
        </p:nvCxnSpPr>
        <p:spPr>
          <a:xfrm>
            <a:off x="5138057" y="2564442"/>
            <a:ext cx="106226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62570A3-8D4C-5A90-8B61-D8BAF39BEFEF}"/>
              </a:ext>
            </a:extLst>
          </p:cNvPr>
          <p:cNvCxnSpPr>
            <a:cxnSpLocks/>
          </p:cNvCxnSpPr>
          <p:nvPr/>
        </p:nvCxnSpPr>
        <p:spPr>
          <a:xfrm>
            <a:off x="2547257" y="2564442"/>
            <a:ext cx="106226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098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71589-2D3F-CE56-83D7-E216E3FB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92D6A9EE-8B42-464F-5B81-15AB8398210D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183166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핵심 기능</a:t>
            </a:r>
            <a:endParaRPr lang="en-US" altLang="ko-KR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F7B447-016E-84C9-B795-C039BE5C5330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2CF3821D-9AA8-9159-5806-402FFFDAE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54CA6-F4B2-9D15-88A2-5463BDFE74C3}"/>
              </a:ext>
            </a:extLst>
          </p:cNvPr>
          <p:cNvSpPr txBox="1"/>
          <p:nvPr/>
        </p:nvSpPr>
        <p:spPr>
          <a:xfrm>
            <a:off x="265890" y="703010"/>
            <a:ext cx="3829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latin typeface="NanumSquare Neo OTF ExtraBold" pitchFamily="2" charset="-127"/>
                <a:ea typeface="NanumSquare Neo OTF ExtraBold" pitchFamily="2" charset="-127"/>
              </a:rPr>
              <a:t>외부 서비스 </a:t>
            </a:r>
            <a:r>
              <a:rPr kumimoji="1" lang="en-US" altLang="ko-KR" sz="2000" b="1" dirty="0">
                <a:latin typeface="NanumSquare Neo OTF ExtraBold" pitchFamily="2" charset="-127"/>
                <a:ea typeface="NanumSquare Neo OTF ExtraBold" pitchFamily="2" charset="-127"/>
              </a:rPr>
              <a:t>API </a:t>
            </a:r>
            <a:r>
              <a:rPr kumimoji="1" lang="ko-KR" altLang="en-US" sz="2000" b="1" dirty="0">
                <a:latin typeface="NanumSquare Neo OTF ExtraBold" pitchFamily="2" charset="-127"/>
                <a:ea typeface="NanumSquare Neo OTF ExtraBold" pitchFamily="2" charset="-127"/>
              </a:rPr>
              <a:t>연동</a:t>
            </a:r>
            <a:r>
              <a:rPr kumimoji="1" lang="en-US" altLang="ko-KR" sz="2000" b="1" dirty="0">
                <a:latin typeface="NanumSquare Neo OTF ExtraBold" pitchFamily="2" charset="-127"/>
                <a:ea typeface="NanumSquare Neo OTF ExtraBold" pitchFamily="2" charset="-127"/>
              </a:rPr>
              <a:t>/</a:t>
            </a:r>
            <a:r>
              <a:rPr kumimoji="1" lang="ko-KR" altLang="en-US" sz="2000" b="1" dirty="0">
                <a:latin typeface="NanumSquare Neo OTF ExtraBold" pitchFamily="2" charset="-127"/>
                <a:ea typeface="NanumSquare Neo OTF ExtraBold" pitchFamily="2" charset="-127"/>
              </a:rPr>
              <a:t>확장 기능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BB445-8F13-D36C-5BF8-DAC905F1F8F9}"/>
              </a:ext>
            </a:extLst>
          </p:cNvPr>
          <p:cNvSpPr txBox="1"/>
          <p:nvPr/>
        </p:nvSpPr>
        <p:spPr>
          <a:xfrm>
            <a:off x="3492137" y="6476488"/>
            <a:ext cx="56518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API Connectors · OAuth Integration · Action Execution · External Knowledge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A315D0-590D-2A73-C97C-5C0C3A515875}"/>
              </a:ext>
            </a:extLst>
          </p:cNvPr>
          <p:cNvSpPr txBox="1"/>
          <p:nvPr/>
        </p:nvSpPr>
        <p:spPr>
          <a:xfrm>
            <a:off x="614287" y="4465242"/>
            <a:ext cx="81117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회의 중 나온 결정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자료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요청을 실제 작업 도구로 옮기는 데 시간이 많이 든다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endParaRPr lang="en-US" altLang="ko-KR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해결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외부 서비스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API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통해 에이전트가 작업 생성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문서 검색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 불러오기를 수행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3" name="그림 12" descr="원, 그래픽, 스케치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75FCA0-625D-A457-F239-145B4041B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9093" y="1765770"/>
            <a:ext cx="1841584" cy="1909077"/>
          </a:xfrm>
          <a:prstGeom prst="rect">
            <a:avLst/>
          </a:prstGeom>
        </p:spPr>
      </p:pic>
      <p:pic>
        <p:nvPicPr>
          <p:cNvPr id="14" name="그림 13" descr="상징, 텍스트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482B78-1240-A97D-D1A7-5D4D4BA8B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87" y="1815639"/>
            <a:ext cx="1475770" cy="1907149"/>
          </a:xfrm>
          <a:prstGeom prst="rect">
            <a:avLst/>
          </a:prstGeom>
        </p:spPr>
      </p:pic>
      <p:pic>
        <p:nvPicPr>
          <p:cNvPr id="2050" name="Picture 2" descr="Github 로고 - 무료 소셜 미디어개 아이콘">
            <a:extLst>
              <a:ext uri="{FF2B5EF4-FFF2-40B4-BE49-F238E27FC236}">
                <a16:creationId xmlns:a16="http://schemas.microsoft.com/office/drawing/2014/main" id="{F6E6DB31-F8DA-0C58-4DBC-C23E2F563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631" y="1754148"/>
            <a:ext cx="863881" cy="86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2E5EBE0-6A8B-409B-5338-472A4E385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715" y="1754149"/>
            <a:ext cx="863882" cy="86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구글 캘린더 로고 Icon Free - SVG, PNG 다운로드 또는 코드 복사 | IconScout">
            <a:extLst>
              <a:ext uri="{FF2B5EF4-FFF2-40B4-BE49-F238E27FC236}">
                <a16:creationId xmlns:a16="http://schemas.microsoft.com/office/drawing/2014/main" id="{94087417-9BF4-E52C-2B66-C15403E49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529" y="2665289"/>
            <a:ext cx="1030084" cy="103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oogle Cloud color icon in PNG, SVG">
            <a:extLst>
              <a:ext uri="{FF2B5EF4-FFF2-40B4-BE49-F238E27FC236}">
                <a16:creationId xmlns:a16="http://schemas.microsoft.com/office/drawing/2014/main" id="{9A606034-3029-025F-4409-119655F54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686" y="2656579"/>
            <a:ext cx="1030085" cy="103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95BF8B3-17C8-D74D-6EA7-D4C410B643B5}"/>
              </a:ext>
            </a:extLst>
          </p:cNvPr>
          <p:cNvCxnSpPr>
            <a:cxnSpLocks/>
          </p:cNvCxnSpPr>
          <p:nvPr/>
        </p:nvCxnSpPr>
        <p:spPr>
          <a:xfrm>
            <a:off x="4850677" y="2604326"/>
            <a:ext cx="9318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EFBDAF4-5558-4739-4EC7-429F0BAE91D6}"/>
              </a:ext>
            </a:extLst>
          </p:cNvPr>
          <p:cNvCxnSpPr>
            <a:cxnSpLocks/>
          </p:cNvCxnSpPr>
          <p:nvPr/>
        </p:nvCxnSpPr>
        <p:spPr>
          <a:xfrm>
            <a:off x="2090057" y="2605432"/>
            <a:ext cx="9318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871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3043A827-5B17-EE42-8064-1B1A7D6B3651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183166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800" b="1" dirty="0">
                <a:latin typeface="NanumSquare Neo OTF ExtraBold" pitchFamily="2" charset="-127"/>
                <a:ea typeface="NanumSquare Neo OTF ExtraBold" pitchFamily="2" charset="-127"/>
              </a:rPr>
              <a:t>Mockup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D1C641-511E-1643-B62D-C85F01973275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A098F67-66E0-9146-9262-244603DAF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F73B15-D6AD-DC42-90B4-23DAE3596FAA}"/>
              </a:ext>
            </a:extLst>
          </p:cNvPr>
          <p:cNvSpPr txBox="1"/>
          <p:nvPr/>
        </p:nvSpPr>
        <p:spPr>
          <a:xfrm>
            <a:off x="2837389" y="3167390"/>
            <a:ext cx="34692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4800" b="1" dirty="0">
                <a:latin typeface="NanumSquare Neo OTF ExtraBold" pitchFamily="2" charset="-127"/>
                <a:ea typeface="NanumSquare Neo OTF ExtraBold" pitchFamily="2" charset="-127"/>
                <a:hlinkClick r:id="rId5"/>
              </a:rPr>
              <a:t>Figma link</a:t>
            </a:r>
            <a:endParaRPr kumimoji="1" lang="ko-KR" altLang="en-US" sz="4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0498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3043A827-5B17-EE42-8064-1B1A7D6B3651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675508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시스템 아키텍쳐</a:t>
            </a:r>
            <a:endParaRPr lang="en-US" altLang="ko-KR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D1C641-511E-1643-B62D-C85F01973275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A098F67-66E0-9146-9262-244603DAF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A655BD-C48F-4D40-92F0-2CB57F74972F}"/>
              </a:ext>
            </a:extLst>
          </p:cNvPr>
          <p:cNvSpPr txBox="1"/>
          <p:nvPr/>
        </p:nvSpPr>
        <p:spPr>
          <a:xfrm>
            <a:off x="2575782" y="2915364"/>
            <a:ext cx="4266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b="1" dirty="0">
                <a:latin typeface="NanumSquare Neo OTF ExtraBold" pitchFamily="2" charset="-127"/>
                <a:ea typeface="NanumSquare Neo OTF ExtraBold" pitchFamily="2" charset="-127"/>
              </a:rPr>
              <a:t>System Architecture</a:t>
            </a:r>
            <a:endParaRPr kumimoji="1" lang="ko-KR" altLang="en-US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pic>
        <p:nvPicPr>
          <p:cNvPr id="4" name="그림 3" descr="텍스트, 도표, 평면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33B66C-C973-B70D-F41A-313D19340E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506"/>
          <a:stretch>
            <a:fillRect/>
          </a:stretch>
        </p:blipFill>
        <p:spPr>
          <a:xfrm>
            <a:off x="122320" y="1663018"/>
            <a:ext cx="8899360" cy="373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31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3043A827-5B17-EE42-8064-1B1A7D6B3651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183166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팀원 소개</a:t>
            </a:r>
            <a:endParaRPr lang="en-US" altLang="ko-KR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D1C641-511E-1643-B62D-C85F01973275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A098F67-66E0-9146-9262-244603DAF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32F454-09C6-3B4C-8059-4D8FDEBCB94D}"/>
              </a:ext>
            </a:extLst>
          </p:cNvPr>
          <p:cNvSpPr txBox="1">
            <a:spLocks noChangeAspect="1"/>
          </p:cNvSpPr>
          <p:nvPr/>
        </p:nvSpPr>
        <p:spPr>
          <a:xfrm>
            <a:off x="284501" y="1024014"/>
            <a:ext cx="779381" cy="52322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en-US" altLang="ko-KR" sz="2800" b="1" dirty="0">
                <a:solidFill>
                  <a:srgbClr val="069857"/>
                </a:solidFill>
                <a:latin typeface="NanumSquare Neo OTF ExtraBold" pitchFamily="2" charset="-127"/>
                <a:ea typeface="NanumSquare Neo OTF ExtraBold" pitchFamily="2" charset="-127"/>
              </a:rPr>
              <a:t>3</a:t>
            </a:r>
            <a:r>
              <a:rPr lang="ko-KR" altLang="en-US" sz="2800" b="1" dirty="0">
                <a:solidFill>
                  <a:srgbClr val="069857"/>
                </a:solidFill>
                <a:latin typeface="NanumSquare Neo OTF ExtraBold" pitchFamily="2" charset="-127"/>
                <a:ea typeface="NanumSquare Neo OTF ExtraBold" pitchFamily="2" charset="-127"/>
              </a:rPr>
              <a:t>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4FE35A-37FC-7A40-B839-0986D18EF6EE}"/>
              </a:ext>
            </a:extLst>
          </p:cNvPr>
          <p:cNvSpPr txBox="1"/>
          <p:nvPr/>
        </p:nvSpPr>
        <p:spPr>
          <a:xfrm>
            <a:off x="6639712" y="4009924"/>
            <a:ext cx="1572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 err="1">
                <a:latin typeface="NanumSquare Neo OTF ExtraBold" pitchFamily="2" charset="-127"/>
                <a:ea typeface="NanumSquare Neo OTF ExtraBold" pitchFamily="2" charset="-127"/>
              </a:rPr>
              <a:t>조윤범</a:t>
            </a:r>
            <a:endParaRPr kumimoji="1" lang="ko-KR" altLang="en-US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E7625-6EB7-7946-844B-8593718F638F}"/>
              </a:ext>
            </a:extLst>
          </p:cNvPr>
          <p:cNvSpPr txBox="1"/>
          <p:nvPr/>
        </p:nvSpPr>
        <p:spPr>
          <a:xfrm>
            <a:off x="3785538" y="2720291"/>
            <a:ext cx="1572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이동규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B54647-1CCB-6749-8E76-28D79F918ED8}"/>
              </a:ext>
            </a:extLst>
          </p:cNvPr>
          <p:cNvSpPr txBox="1"/>
          <p:nvPr/>
        </p:nvSpPr>
        <p:spPr>
          <a:xfrm>
            <a:off x="6639712" y="2742352"/>
            <a:ext cx="1572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김형준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542494-11E9-8A40-9A8C-532338697B81}"/>
              </a:ext>
            </a:extLst>
          </p:cNvPr>
          <p:cNvSpPr txBox="1"/>
          <p:nvPr/>
        </p:nvSpPr>
        <p:spPr>
          <a:xfrm>
            <a:off x="931364" y="3965455"/>
            <a:ext cx="1572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 err="1">
                <a:latin typeface="NanumSquare Neo OTF ExtraBold" pitchFamily="2" charset="-127"/>
                <a:ea typeface="NanumSquare Neo OTF ExtraBold" pitchFamily="2" charset="-127"/>
              </a:rPr>
              <a:t>신지웅</a:t>
            </a:r>
            <a:endParaRPr kumimoji="1" lang="ko-KR" altLang="en-US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273D9B-D7DB-104E-B207-0F42228B7670}"/>
              </a:ext>
            </a:extLst>
          </p:cNvPr>
          <p:cNvSpPr txBox="1"/>
          <p:nvPr/>
        </p:nvSpPr>
        <p:spPr>
          <a:xfrm>
            <a:off x="931364" y="2720291"/>
            <a:ext cx="1572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 err="1">
                <a:latin typeface="NanumSquare Neo OTF ExtraBold" pitchFamily="2" charset="-127"/>
                <a:ea typeface="NanumSquare Neo OTF ExtraBold" pitchFamily="2" charset="-127"/>
              </a:rPr>
              <a:t>윤태은</a:t>
            </a:r>
            <a:endParaRPr kumimoji="1" lang="ko-KR" altLang="en-US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071412-779B-384F-BCC2-0F50FC1B8EFA}"/>
              </a:ext>
            </a:extLst>
          </p:cNvPr>
          <p:cNvSpPr txBox="1"/>
          <p:nvPr/>
        </p:nvSpPr>
        <p:spPr>
          <a:xfrm>
            <a:off x="3785537" y="4009924"/>
            <a:ext cx="1572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조명기</a:t>
            </a:r>
          </a:p>
        </p:txBody>
      </p:sp>
    </p:spTree>
    <p:extLst>
      <p:ext uri="{BB962C8B-B14F-4D97-AF65-F5344CB8AC3E}">
        <p14:creationId xmlns:p14="http://schemas.microsoft.com/office/powerpoint/2010/main" val="820520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0DC0-61D7-9743-4D9A-BB7D107D8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EF0E0700-4012-63A0-1676-32FB885DAA32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183166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altLang="ko-KR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31D014-D984-D2E2-28EA-8A3E76CBAE91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18A2BFFE-4577-6D8F-29F5-8D0A0628A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F7654F-AD18-BD26-9132-1E442639D42C}"/>
              </a:ext>
            </a:extLst>
          </p:cNvPr>
          <p:cNvSpPr txBox="1"/>
          <p:nvPr/>
        </p:nvSpPr>
        <p:spPr>
          <a:xfrm>
            <a:off x="2670418" y="2921168"/>
            <a:ext cx="43504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6000" b="1" dirty="0">
                <a:latin typeface="NanumSquare Neo OTF ExtraBold" pitchFamily="2" charset="-127"/>
                <a:ea typeface="NanumSquare Neo OTF ExtraBold" pitchFamily="2" charset="-127"/>
              </a:rPr>
              <a:t>감사합니다</a:t>
            </a:r>
            <a:r>
              <a:rPr kumimoji="1" lang="en-US" altLang="ko-KR" sz="6000" b="1" dirty="0">
                <a:latin typeface="NanumSquare Neo OTF ExtraBold" pitchFamily="2" charset="-127"/>
                <a:ea typeface="NanumSquare Neo OTF ExtraBold" pitchFamily="2" charset="-127"/>
              </a:rPr>
              <a:t>.</a:t>
            </a:r>
            <a:endParaRPr kumimoji="1" lang="ko-KR" altLang="en-US" sz="60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0839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3043A827-5B17-EE42-8064-1B1A7D6B3651}"/>
              </a:ext>
            </a:extLst>
          </p:cNvPr>
          <p:cNvSpPr txBox="1">
            <a:spLocks/>
          </p:cNvSpPr>
          <p:nvPr/>
        </p:nvSpPr>
        <p:spPr>
          <a:xfrm>
            <a:off x="265890" y="304057"/>
            <a:ext cx="7183166" cy="2596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NanumSquare Neo OTF ExtraBold" pitchFamily="2" charset="-127"/>
                <a:ea typeface="NanumSquare Neo OTF ExtraBold" pitchFamily="2" charset="-127"/>
              </a:rPr>
              <a:t>기술적 </a:t>
            </a:r>
            <a:r>
              <a:rPr lang="ko-KR" altLang="en-US" sz="2800" b="1" dirty="0" err="1">
                <a:latin typeface="NanumSquare Neo OTF ExtraBold" pitchFamily="2" charset="-127"/>
                <a:ea typeface="NanumSquare Neo OTF ExtraBold" pitchFamily="2" charset="-127"/>
              </a:rPr>
              <a:t>챌린지</a:t>
            </a:r>
            <a:endParaRPr lang="en-US" altLang="ko-KR" sz="2800" b="1" dirty="0">
              <a:latin typeface="NanumSquare Neo OTF ExtraBold" pitchFamily="2" charset="-127"/>
              <a:ea typeface="NanumSquare Neo OTF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D1C641-511E-1643-B62D-C85F01973275}"/>
              </a:ext>
            </a:extLst>
          </p:cNvPr>
          <p:cNvSpPr/>
          <p:nvPr/>
        </p:nvSpPr>
        <p:spPr>
          <a:xfrm>
            <a:off x="284501" y="645642"/>
            <a:ext cx="8646060" cy="18000"/>
          </a:xfrm>
          <a:prstGeom prst="rect">
            <a:avLst/>
          </a:prstGeom>
          <a:solidFill>
            <a:srgbClr val="06C178"/>
          </a:solidFill>
          <a:ln w="38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A098F67-66E0-9146-9262-244603DAF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913" y="83054"/>
            <a:ext cx="1696928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68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2360</TotalTime>
  <Words>313</Words>
  <Application>Microsoft Office PowerPoint</Application>
  <PresentationFormat>화면 슬라이드 쇼(4:3)</PresentationFormat>
  <Paragraphs>63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맑은 고딕</vt:lpstr>
      <vt:lpstr>Calibri Light</vt:lpstr>
      <vt:lpstr>Pretendard SemiBold</vt:lpstr>
      <vt:lpstr>Calibri</vt:lpstr>
      <vt:lpstr>NanumSquare Neo OTF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TAEEUN YUN</cp:lastModifiedBy>
  <cp:revision>55</cp:revision>
  <dcterms:created xsi:type="dcterms:W3CDTF">2025-10-14T12:03:41Z</dcterms:created>
  <dcterms:modified xsi:type="dcterms:W3CDTF">2025-12-21T12:00:40Z</dcterms:modified>
</cp:coreProperties>
</file>